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Pain points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23744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E00A-4A0F-B399-EC8276EFFFE4}"/>
              </c:ext>
            </c:extLst>
          </c:dPt>
          <c:dPt>
            <c:idx val="1"/>
            <c:bubble3D val="0"/>
            <c:spPr>
              <a:solidFill>
                <a:srgbClr val="FC8019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E00A-4A0F-B399-EC8276EFFFE4}"/>
              </c:ext>
            </c:extLst>
          </c:dPt>
          <c:dPt>
            <c:idx val="2"/>
            <c:bubble3D val="0"/>
            <c:spPr>
              <a:solidFill>
                <a:srgbClr val="7A1420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E00A-4A0F-B399-EC8276EFFFE4}"/>
              </c:ext>
            </c:extLst>
          </c:dPt>
          <c:dPt>
            <c:idx val="3"/>
            <c:bubble3D val="0"/>
            <c:spPr>
              <a:solidFill>
                <a:srgbClr val="F6B93B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E00A-4A0F-B399-EC8276EFFFE4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00A-4A0F-B399-EC8276EFFFE4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00A-4A0F-B399-EC8276EFFFE4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00A-4A0F-B399-EC8276EFFFE4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00A-4A0F-B399-EC8276EFFFE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Long waiting times</c:v>
                </c:pt>
                <c:pt idx="1">
                  <c:v>No order tracking</c:v>
                </c:pt>
                <c:pt idx="2">
                  <c:v>Payment issues</c:v>
                </c:pt>
                <c:pt idx="3">
                  <c:v>Order errors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27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00A-4A0F-B399-EC8276EFFF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D2A2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9707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Introduce the project "Order Cheyandi Aha Anandi", an online food delivery website, and the five team members: Siva Kumar, Seshagiri, Ramesh Naidu, Raju Babu, Bunny.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online food delivery in one line: customers order, restaurants prepare, delivery partners deliver, the platform connects everyone. Point out the benefits for both customers and restaurants.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pain points of traditional ordering: long waits, no tracking, payment difficulties, and errors with limited choice. The chart is illustrative; replace it with your own survey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Solution: one responsive website for customers and restaurants. Technologies: HTML5, CSS3, JavaScript and Bootstrap for the front end, PHP or Node.js for server logic, MySQL for data. Explain the three layers and the external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core features: registration and login, restaurant listings, search and filter, cart, online payment, live order tracking, ratings and reviews, responsive design. The bar chart compares the traditional way with our website; the scores are illustrative.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five main screens: home, menu, cart, payment and order tracking. Replace the mockups with real screenshots of your project if you have them (Right-click &gt; Change Picture). Replace the QR code and URL with your real demo link, then start the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project and its benefits for customers and restaurants, then present the future scope: AI recommendations, voice ordering, real-time GPS tracking and mobile app integration. Close with thanks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5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3.png"/><Relationship Id="rId5" Type="http://schemas.openxmlformats.org/officeDocument/2006/relationships/image" Target="../media/image6.png"/><Relationship Id="rId15" Type="http://schemas.openxmlformats.org/officeDocument/2006/relationships/image" Target="../media/image15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12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7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8.png"/><Relationship Id="rId9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7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8.png"/><Relationship Id="rId9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0.png"/><Relationship Id="rId3" Type="http://schemas.openxmlformats.org/officeDocument/2006/relationships/image" Target="../media/image7.png"/><Relationship Id="rId7" Type="http://schemas.openxmlformats.org/officeDocument/2006/relationships/image" Target="../media/image27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29.png"/><Relationship Id="rId5" Type="http://schemas.openxmlformats.org/officeDocument/2006/relationships/image" Target="../media/image26.png"/><Relationship Id="rId10" Type="http://schemas.openxmlformats.org/officeDocument/2006/relationships/image" Target="../media/image17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7.png"/><Relationship Id="rId7" Type="http://schemas.openxmlformats.org/officeDocument/2006/relationships/image" Target="../media/image33.png"/><Relationship Id="rId12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36.png"/><Relationship Id="rId5" Type="http://schemas.openxmlformats.org/officeDocument/2006/relationships/image" Target="../media/image2.png"/><Relationship Id="rId10" Type="http://schemas.openxmlformats.org/officeDocument/2006/relationships/hyperlink" Target="https://darling-sorbet-31b7fa.netlify.app/" TargetMode="External"/><Relationship Id="rId4" Type="http://schemas.openxmlformats.org/officeDocument/2006/relationships/image" Target="../media/image8.png"/><Relationship Id="rId9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hyperlink" Target="https://darling-sorbet-31b7fa.netlify.app/" TargetMode="External"/><Relationship Id="rId3" Type="http://schemas.openxmlformats.org/officeDocument/2006/relationships/image" Target="../media/image38.png"/><Relationship Id="rId7" Type="http://schemas.openxmlformats.org/officeDocument/2006/relationships/image" Target="../media/image10.png"/><Relationship Id="rId12" Type="http://schemas.openxmlformats.org/officeDocument/2006/relationships/image" Target="../media/image4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11.png"/><Relationship Id="rId5" Type="http://schemas.openxmlformats.org/officeDocument/2006/relationships/image" Target="../media/image39.png"/><Relationship Id="rId10" Type="http://schemas.openxmlformats.org/officeDocument/2006/relationships/image" Target="../media/image43.png"/><Relationship Id="rId4" Type="http://schemas.openxmlformats.org/officeDocument/2006/relationships/image" Target="../media/image8.png"/><Relationship Id="rId9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640080" y="5486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AAROHAN PROJECT PRESENTATION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3444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5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Order</a:t>
            </a: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520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Cheyyandi</a:t>
            </a:r>
            <a:endParaRPr lang="en-US" sz="5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520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Aaha</a:t>
            </a: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5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Anandi</a:t>
            </a: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!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175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F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Food Delivery Website</a:t>
            </a:r>
            <a:endParaRPr lang="en-US" sz="2600" b="1" i="1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5204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FF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online. Track live. Enjoy it fresh.</a:t>
            </a:r>
            <a:endParaRPr lang="en-US" sz="1500" i="1" dirty="0"/>
          </a:p>
        </p:txBody>
      </p:sp>
      <p:sp>
        <p:nvSpPr>
          <p:cNvPr id="7" name="Shape 5"/>
          <p:cNvSpPr/>
          <p:nvPr/>
        </p:nvSpPr>
        <p:spPr>
          <a:xfrm>
            <a:off x="548640" y="4114800"/>
            <a:ext cx="5760720" cy="2011680"/>
          </a:xfrm>
          <a:prstGeom prst="roundRect">
            <a:avLst>
              <a:gd name="adj" fmla="val 10000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822960" y="4279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4663440"/>
            <a:ext cx="169164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  <a:effectLst>
            <a:outerShdw blurRad="1778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77824" y="4718304"/>
            <a:ext cx="402336" cy="402336"/>
          </a:xfrm>
          <a:prstGeom prst="ellipse">
            <a:avLst/>
          </a:prstGeom>
          <a:solidFill>
            <a:srgbClr val="E23744"/>
          </a:solidFill>
          <a:ln w="3175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877824" y="47183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4663440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 Kumar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606040" y="4663440"/>
            <a:ext cx="169164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  <a:effectLst>
            <a:outerShdw blurRad="1778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660904" y="4718304"/>
            <a:ext cx="402336" cy="402336"/>
          </a:xfrm>
          <a:prstGeom prst="ellipse">
            <a:avLst/>
          </a:prstGeom>
          <a:solidFill>
            <a:srgbClr val="E23744"/>
          </a:solidFill>
          <a:ln w="3175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2660904" y="47183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136392" y="4663440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Seshagiri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89120" y="4663440"/>
            <a:ext cx="169164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  <a:effectLst>
            <a:outerShdw blurRad="1778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443984" y="4718304"/>
            <a:ext cx="402336" cy="402336"/>
          </a:xfrm>
          <a:prstGeom prst="ellipse">
            <a:avLst/>
          </a:prstGeom>
          <a:solidFill>
            <a:srgbClr val="E23744"/>
          </a:solidFill>
          <a:ln w="3175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4443984" y="47183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919472" y="4663440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Ramesh Naidu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2960" y="5321808"/>
            <a:ext cx="169164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  <a:effectLst>
            <a:outerShdw blurRad="1778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877824" y="5376672"/>
            <a:ext cx="402336" cy="402336"/>
          </a:xfrm>
          <a:prstGeom prst="ellipse">
            <a:avLst/>
          </a:prstGeom>
          <a:solidFill>
            <a:srgbClr val="E23744"/>
          </a:solidFill>
          <a:ln w="3175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877824" y="5376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353312" y="5321808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Raju Babu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606040" y="5321808"/>
            <a:ext cx="169164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  <a:effectLst>
            <a:outerShdw blurRad="1778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660904" y="5376672"/>
            <a:ext cx="402336" cy="402336"/>
          </a:xfrm>
          <a:prstGeom prst="ellipse">
            <a:avLst/>
          </a:prstGeom>
          <a:solidFill>
            <a:srgbClr val="E23744"/>
          </a:solidFill>
          <a:ln w="3175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2660904" y="5376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136392" y="5321808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Bunny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583680" y="777240"/>
            <a:ext cx="5303520" cy="5303520"/>
          </a:xfrm>
          <a:prstGeom prst="ellipse">
            <a:avLst/>
          </a:prstGeom>
          <a:solidFill>
            <a:srgbClr val="FFFFFF">
              <a:alpha val="12000"/>
            </a:srgbClr>
          </a:solidFill>
          <a:ln w="15875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995160" y="1188720"/>
            <a:ext cx="4480560" cy="4480560"/>
          </a:xfrm>
          <a:prstGeom prst="ellipse">
            <a:avLst/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35000"/>
              </a:srgbClr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pic>
        <p:nvPicPr>
          <p:cNvPr id="31" name="anim" descr="Mobile app mockup showing the home scree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188720"/>
            <a:ext cx="2103120" cy="4306824"/>
          </a:xfrm>
          <a:prstGeom prst="rect">
            <a:avLst/>
          </a:prstGeom>
        </p:spPr>
      </p:pic>
      <p:pic>
        <p:nvPicPr>
          <p:cNvPr id="32" name="anim" descr="Pizza illustrati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005840"/>
            <a:ext cx="1920240" cy="1920240"/>
          </a:xfrm>
          <a:prstGeom prst="rect">
            <a:avLst/>
          </a:prstGeom>
        </p:spPr>
      </p:pic>
      <p:pic>
        <p:nvPicPr>
          <p:cNvPr id="33" name="anim" descr="Burger illustrati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9840" y="868680"/>
            <a:ext cx="1828800" cy="1828800"/>
          </a:xfrm>
          <a:prstGeom prst="rect">
            <a:avLst/>
          </a:prstGeom>
        </p:spPr>
      </p:pic>
      <p:pic>
        <p:nvPicPr>
          <p:cNvPr id="34" name="anim" descr="Biryani bowl illustrati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3566160"/>
            <a:ext cx="2103120" cy="2103120"/>
          </a:xfrm>
          <a:prstGeom prst="rect">
            <a:avLst/>
          </a:prstGeom>
        </p:spPr>
      </p:pic>
      <p:pic>
        <p:nvPicPr>
          <p:cNvPr id="35" name="anim" descr="Delivery rider on a scooter carrying a food box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6880" y="3794760"/>
            <a:ext cx="2514600" cy="1764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INTRODUCTION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39" y="640080"/>
            <a:ext cx="396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i="1" dirty="0">
                <a:solidFill>
                  <a:srgbClr val="2B121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00"/>
                </a:highlight>
                <a:latin typeface="Cambria" pitchFamily="34" charset="0"/>
                <a:ea typeface="Cambria" pitchFamily="34" charset="-122"/>
              </a:rPr>
              <a:t>INTRODUCTION</a:t>
            </a:r>
          </a:p>
        </p:txBody>
      </p:sp>
      <p:sp>
        <p:nvSpPr>
          <p:cNvPr id="4" name="Shape 2"/>
          <p:cNvSpPr/>
          <p:nvPr/>
        </p:nvSpPr>
        <p:spPr>
          <a:xfrm>
            <a:off x="9006840" y="256032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FF1E8"/>
          </a:solidFill>
          <a:ln w="9525">
            <a:solidFill>
              <a:srgbClr val="F6D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052560" y="292608"/>
            <a:ext cx="274320" cy="274320"/>
          </a:xfrm>
          <a:prstGeom prst="ellipse">
            <a:avLst/>
          </a:prstGeom>
          <a:solidFill>
            <a:srgbClr val="E23744"/>
          </a:solidFill>
          <a:ln w="3175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Brand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6568" y="356616"/>
            <a:ext cx="146304" cy="1463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418320" y="25603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</a:t>
            </a:r>
            <a:r>
              <a:rPr lang="en-US" sz="1100" b="1" dirty="0" err="1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Cheyyandi</a:t>
            </a:r>
            <a:r>
              <a:rPr lang="en-US" sz="11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100" b="1" dirty="0" err="1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Aaha</a:t>
            </a:r>
            <a:r>
              <a:rPr lang="en-US" sz="11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Anandi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Food Delivery Website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744200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A9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07</a:t>
            </a:r>
            <a:endParaRPr lang="en-US" sz="1000" dirty="0"/>
          </a:p>
        </p:txBody>
      </p:sp>
      <p:pic>
        <p:nvPicPr>
          <p:cNvPr id="10" name="anim" descr="Delivery rider illustrati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0" y="640080"/>
            <a:ext cx="1371600" cy="9601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1463040"/>
            <a:ext cx="5486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r>
              <a:rPr lang="en-US" sz="1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</a:t>
            </a:r>
            <a:r>
              <a:rPr lang="en-US" sz="1400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Cheyyandi</a:t>
            </a:r>
            <a:r>
              <a:rPr lang="en-US" sz="1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Aaha</a:t>
            </a:r>
            <a:r>
              <a:rPr lang="en-US" sz="1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Anandi</a:t>
            </a:r>
            <a:r>
              <a:rPr lang="en-US" sz="1400" dirty="0">
                <a:solidFill>
                  <a:srgbClr val="2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is a modern  food delivery platform that connects customers with restaurants through a user-friendly website. The platform aims to provide a fast, convenient, and reliable food ordering experience.</a:t>
            </a:r>
          </a:p>
          <a:p>
            <a:pPr marL="0" indent="0">
              <a:lnSpc>
                <a:spcPct val="105000"/>
              </a:lnSpc>
              <a:buNone/>
            </a:pP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2697480"/>
            <a:ext cx="2743200" cy="265176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9525">
            <a:solidFill>
              <a:srgbClr val="F3E4DA"/>
            </a:solidFill>
            <a:prstDash val="solid"/>
          </a:ln>
          <a:effectLst>
            <a:outerShdw blurRad="1778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777240" y="2926080"/>
            <a:ext cx="594360" cy="594360"/>
          </a:xfrm>
          <a:prstGeom prst="ellipse">
            <a:avLst/>
          </a:prstGeom>
          <a:solidFill>
            <a:srgbClr val="FC8019"/>
          </a:solidFill>
          <a:ln w="3175">
            <a:solidFill>
              <a:srgbClr val="FC801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2" descr="Smile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830" y="3074670"/>
            <a:ext cx="297180" cy="2971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08760" y="29260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Customers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777240" y="37033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many restaurants in one place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anytime in a few clicks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the order and pay securely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3474720" y="2697480"/>
            <a:ext cx="2743200" cy="265176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9525">
            <a:solidFill>
              <a:srgbClr val="F3E4DA"/>
            </a:solidFill>
            <a:prstDash val="solid"/>
          </a:ln>
          <a:effectLst>
            <a:outerShdw blurRad="1778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3703320" y="2926080"/>
            <a:ext cx="594360" cy="594360"/>
          </a:xfrm>
          <a:prstGeom prst="ellipse">
            <a:avLst/>
          </a:prstGeom>
          <a:solidFill>
            <a:srgbClr val="E23744"/>
          </a:solidFill>
          <a:ln w="3175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3" descr="Store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51910" y="3074670"/>
            <a:ext cx="297180" cy="29718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434840" y="29260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Restaurants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3703320" y="37033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more customers online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Digital, error-free order handling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help improve service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6309360" y="1417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Ecosystem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7452360" y="1920240"/>
            <a:ext cx="2926080" cy="292608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C8019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18"/>
          <p:cNvSpPr/>
          <p:nvPr/>
        </p:nvSpPr>
        <p:spPr>
          <a:xfrm>
            <a:off x="8183880" y="2651760"/>
            <a:ext cx="1463040" cy="1463040"/>
          </a:xfrm>
          <a:prstGeom prst="ellipse">
            <a:avLst/>
          </a:prstGeom>
          <a:solidFill>
            <a:srgbClr val="E23744"/>
          </a:solidFill>
          <a:ln w="38100">
            <a:solidFill>
              <a:srgbClr val="FFFFFF"/>
            </a:solidFill>
            <a:prstDash val="solid"/>
          </a:ln>
          <a:effectLst>
            <a:outerShdw blurRad="1778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5" name="Image 4" descr="Platform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2752344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8183880" y="317982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cheyyandi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Aaha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Anandi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8915400" y="2400300"/>
            <a:ext cx="0" cy="251460"/>
          </a:xfrm>
          <a:prstGeom prst="line">
            <a:avLst/>
          </a:prstGeom>
          <a:noFill/>
          <a:ln w="31750">
            <a:solidFill>
              <a:srgbClr val="FC8019"/>
            </a:solidFill>
            <a:prstDash val="solid"/>
            <a:head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1"/>
          <p:cNvSpPr/>
          <p:nvPr/>
        </p:nvSpPr>
        <p:spPr>
          <a:xfrm>
            <a:off x="8915400" y="4114800"/>
            <a:ext cx="0" cy="251460"/>
          </a:xfrm>
          <a:prstGeom prst="line">
            <a:avLst/>
          </a:prstGeom>
          <a:noFill/>
          <a:ln w="31750">
            <a:solidFill>
              <a:srgbClr val="FC8019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2"/>
          <p:cNvSpPr/>
          <p:nvPr/>
        </p:nvSpPr>
        <p:spPr>
          <a:xfrm>
            <a:off x="9646920" y="3383280"/>
            <a:ext cx="251460" cy="0"/>
          </a:xfrm>
          <a:prstGeom prst="line">
            <a:avLst/>
          </a:prstGeom>
          <a:noFill/>
          <a:ln w="31750">
            <a:solidFill>
              <a:srgbClr val="FC8019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7932420" y="3383280"/>
            <a:ext cx="251460" cy="0"/>
          </a:xfrm>
          <a:prstGeom prst="line">
            <a:avLst/>
          </a:prstGeom>
          <a:noFill/>
          <a:ln w="31750">
            <a:solidFill>
              <a:srgbClr val="FC8019"/>
            </a:solidFill>
            <a:prstDash val="solid"/>
            <a:head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4"/>
          <p:cNvSpPr/>
          <p:nvPr/>
        </p:nvSpPr>
        <p:spPr>
          <a:xfrm>
            <a:off x="8435340" y="1440180"/>
            <a:ext cx="960120" cy="960120"/>
          </a:xfrm>
          <a:prstGeom prst="ellipse">
            <a:avLst/>
          </a:prstGeom>
          <a:solidFill>
            <a:srgbClr val="FC8019"/>
          </a:solidFill>
          <a:ln w="38100">
            <a:solidFill>
              <a:srgbClr val="FFFFFF"/>
            </a:solidFill>
            <a:prstDash val="solid"/>
          </a:ln>
          <a:effectLst>
            <a:outerShdw blurRad="1778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2" name="Image 5" descr="Customer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0" y="1691640"/>
            <a:ext cx="457200" cy="457200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9509760" y="1636776"/>
            <a:ext cx="17830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F0D5C7"/>
            </a:solidFill>
            <a:prstDash val="solid"/>
          </a:ln>
          <a:effectLst>
            <a:outerShdw blurRad="1778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Text 26"/>
          <p:cNvSpPr txBox="1"/>
          <p:nvPr/>
        </p:nvSpPr>
        <p:spPr>
          <a:xfrm>
            <a:off x="9628632" y="1636776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E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Browses and orders</a:t>
            </a:r>
            <a:endParaRPr lang="en-US" sz="1300" dirty="0"/>
          </a:p>
        </p:txBody>
      </p:sp>
      <p:sp>
        <p:nvSpPr>
          <p:cNvPr id="35" name="Shape 27"/>
          <p:cNvSpPr/>
          <p:nvPr/>
        </p:nvSpPr>
        <p:spPr>
          <a:xfrm>
            <a:off x="9898380" y="2903220"/>
            <a:ext cx="960120" cy="960120"/>
          </a:xfrm>
          <a:prstGeom prst="ellipse">
            <a:avLst/>
          </a:prstGeom>
          <a:solidFill>
            <a:srgbClr val="E23744"/>
          </a:solidFill>
          <a:ln w="38100">
            <a:solidFill>
              <a:srgbClr val="FFFFFF"/>
            </a:solidFill>
            <a:prstDash val="solid"/>
          </a:ln>
          <a:effectLst>
            <a:outerShdw blurRad="1778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6" name="Image 6" descr="Restaurant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9840" y="315468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9601200" y="3968496"/>
            <a:ext cx="15544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F0D5C7"/>
            </a:solidFill>
            <a:prstDash val="solid"/>
          </a:ln>
          <a:effectLst>
            <a:outerShdw blurRad="1778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Text 29"/>
          <p:cNvSpPr txBox="1"/>
          <p:nvPr/>
        </p:nvSpPr>
        <p:spPr>
          <a:xfrm>
            <a:off x="9601200" y="396849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E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Prepares the food</a:t>
            </a:r>
            <a:endParaRPr lang="en-US" sz="1300" dirty="0"/>
          </a:p>
        </p:txBody>
      </p:sp>
      <p:sp>
        <p:nvSpPr>
          <p:cNvPr id="39" name="Shape 30"/>
          <p:cNvSpPr/>
          <p:nvPr/>
        </p:nvSpPr>
        <p:spPr>
          <a:xfrm>
            <a:off x="8435340" y="4366260"/>
            <a:ext cx="960120" cy="960120"/>
          </a:xfrm>
          <a:prstGeom prst="ellipse">
            <a:avLst/>
          </a:prstGeom>
          <a:solidFill>
            <a:srgbClr val="D9480F"/>
          </a:solidFill>
          <a:ln w="38100">
            <a:solidFill>
              <a:srgbClr val="FFFFFF"/>
            </a:solidFill>
            <a:prstDash val="solid"/>
          </a:ln>
          <a:effectLst>
            <a:outerShdw blurRad="1778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0" name="Image 7" descr="Delivery Partner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6800" y="4617720"/>
            <a:ext cx="457200" cy="457200"/>
          </a:xfrm>
          <a:prstGeom prst="rect">
            <a:avLst/>
          </a:prstGeom>
        </p:spPr>
      </p:pic>
      <p:sp>
        <p:nvSpPr>
          <p:cNvPr id="41" name="Shape 31"/>
          <p:cNvSpPr/>
          <p:nvPr/>
        </p:nvSpPr>
        <p:spPr>
          <a:xfrm>
            <a:off x="9509760" y="4745736"/>
            <a:ext cx="17830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F0D5C7"/>
            </a:solidFill>
            <a:prstDash val="solid"/>
          </a:ln>
          <a:effectLst>
            <a:outerShdw blurRad="1778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Text 32"/>
          <p:cNvSpPr txBox="1"/>
          <p:nvPr/>
        </p:nvSpPr>
        <p:spPr>
          <a:xfrm>
            <a:off x="9628632" y="4745736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Partner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E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it fast</a:t>
            </a:r>
            <a:endParaRPr lang="en-US" sz="1300" dirty="0"/>
          </a:p>
        </p:txBody>
      </p:sp>
      <p:sp>
        <p:nvSpPr>
          <p:cNvPr id="43" name="Shape 33"/>
          <p:cNvSpPr/>
          <p:nvPr/>
        </p:nvSpPr>
        <p:spPr>
          <a:xfrm>
            <a:off x="6972300" y="2903220"/>
            <a:ext cx="960120" cy="960120"/>
          </a:xfrm>
          <a:prstGeom prst="ellipse">
            <a:avLst/>
          </a:prstGeom>
          <a:solidFill>
            <a:srgbClr val="7A1420"/>
          </a:solidFill>
          <a:ln w="38100">
            <a:solidFill>
              <a:srgbClr val="FFFFFF"/>
            </a:solidFill>
            <a:prstDash val="solid"/>
          </a:ln>
          <a:effectLst>
            <a:outerShdw blurRad="1778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4" name="Image 8" descr="Payment Gateway 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23760" y="3154680"/>
            <a:ext cx="457200" cy="457200"/>
          </a:xfrm>
          <a:prstGeom prst="rect">
            <a:avLst/>
          </a:prstGeom>
        </p:spPr>
      </p:pic>
      <p:sp>
        <p:nvSpPr>
          <p:cNvPr id="45" name="Shape 34"/>
          <p:cNvSpPr/>
          <p:nvPr/>
        </p:nvSpPr>
        <p:spPr>
          <a:xfrm>
            <a:off x="6675120" y="3968496"/>
            <a:ext cx="15544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F0D5C7"/>
            </a:solidFill>
            <a:prstDash val="solid"/>
          </a:ln>
          <a:effectLst>
            <a:outerShdw blurRad="1778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Text 35"/>
          <p:cNvSpPr txBox="1"/>
          <p:nvPr/>
        </p:nvSpPr>
        <p:spPr>
          <a:xfrm>
            <a:off x="6675120" y="396849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E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payments</a:t>
            </a:r>
            <a:endParaRPr lang="en-US" sz="1300" dirty="0"/>
          </a:p>
        </p:txBody>
      </p:sp>
      <p:sp>
        <p:nvSpPr>
          <p:cNvPr id="47" name="Shape 36"/>
          <p:cNvSpPr/>
          <p:nvPr/>
        </p:nvSpPr>
        <p:spPr>
          <a:xfrm>
            <a:off x="548640" y="5532120"/>
            <a:ext cx="11109960" cy="77724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F3E4DA"/>
            </a:solidFill>
            <a:prstDash val="solid"/>
          </a:ln>
          <a:effectLst>
            <a:outerShdw blurRad="1778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37"/>
          <p:cNvSpPr/>
          <p:nvPr/>
        </p:nvSpPr>
        <p:spPr>
          <a:xfrm>
            <a:off x="822960" y="5596128"/>
            <a:ext cx="658368" cy="658368"/>
          </a:xfrm>
          <a:prstGeom prst="ellipse">
            <a:avLst/>
          </a:prstGeom>
          <a:solidFill>
            <a:srgbClr val="FFF1E8"/>
          </a:solidFill>
          <a:ln w="3175">
            <a:solidFill>
              <a:srgbClr val="FFF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9" name="Image 9" descr="Pizza illustration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7824" y="5650992"/>
            <a:ext cx="548640" cy="548640"/>
          </a:xfrm>
          <a:prstGeom prst="rect">
            <a:avLst/>
          </a:prstGeom>
        </p:spPr>
      </p:pic>
      <p:sp>
        <p:nvSpPr>
          <p:cNvPr id="50" name="Text 38"/>
          <p:cNvSpPr txBox="1"/>
          <p:nvPr/>
        </p:nvSpPr>
        <p:spPr>
          <a:xfrm>
            <a:off x="1600200" y="559612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</a:t>
            </a:r>
            <a:endParaRPr lang="en-US" sz="1400" dirty="0"/>
          </a:p>
        </p:txBody>
      </p:sp>
      <p:sp>
        <p:nvSpPr>
          <p:cNvPr id="51" name="Shape 39"/>
          <p:cNvSpPr/>
          <p:nvPr/>
        </p:nvSpPr>
        <p:spPr>
          <a:xfrm>
            <a:off x="3017520" y="5596128"/>
            <a:ext cx="658368" cy="658368"/>
          </a:xfrm>
          <a:prstGeom prst="ellipse">
            <a:avLst/>
          </a:prstGeom>
          <a:solidFill>
            <a:srgbClr val="FFF1E8"/>
          </a:solidFill>
          <a:ln w="3175">
            <a:solidFill>
              <a:srgbClr val="FFF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2" name="Image 10" descr="Burger illustration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72384" y="5650992"/>
            <a:ext cx="548640" cy="548640"/>
          </a:xfrm>
          <a:prstGeom prst="rect">
            <a:avLst/>
          </a:prstGeom>
        </p:spPr>
      </p:pic>
      <p:sp>
        <p:nvSpPr>
          <p:cNvPr id="53" name="Text 40"/>
          <p:cNvSpPr txBox="1"/>
          <p:nvPr/>
        </p:nvSpPr>
        <p:spPr>
          <a:xfrm>
            <a:off x="3794760" y="559612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Burger</a:t>
            </a:r>
            <a:endParaRPr lang="en-US" sz="1400" dirty="0"/>
          </a:p>
        </p:txBody>
      </p:sp>
      <p:sp>
        <p:nvSpPr>
          <p:cNvPr id="54" name="Shape 41"/>
          <p:cNvSpPr/>
          <p:nvPr/>
        </p:nvSpPr>
        <p:spPr>
          <a:xfrm>
            <a:off x="5212080" y="5596128"/>
            <a:ext cx="658368" cy="658368"/>
          </a:xfrm>
          <a:prstGeom prst="ellipse">
            <a:avLst/>
          </a:prstGeom>
          <a:solidFill>
            <a:srgbClr val="FFF1E8"/>
          </a:solidFill>
          <a:ln w="3175">
            <a:solidFill>
              <a:srgbClr val="FFF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5" name="Image 11" descr="Biryani illustration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66944" y="5650992"/>
            <a:ext cx="548640" cy="548640"/>
          </a:xfrm>
          <a:prstGeom prst="rect">
            <a:avLst/>
          </a:prstGeom>
        </p:spPr>
      </p:pic>
      <p:sp>
        <p:nvSpPr>
          <p:cNvPr id="56" name="Text 42"/>
          <p:cNvSpPr txBox="1"/>
          <p:nvPr/>
        </p:nvSpPr>
        <p:spPr>
          <a:xfrm>
            <a:off x="5989320" y="559612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Biryani</a:t>
            </a:r>
            <a:endParaRPr lang="en-US" sz="1400" dirty="0"/>
          </a:p>
        </p:txBody>
      </p:sp>
      <p:sp>
        <p:nvSpPr>
          <p:cNvPr id="57" name="Shape 43"/>
          <p:cNvSpPr/>
          <p:nvPr/>
        </p:nvSpPr>
        <p:spPr>
          <a:xfrm>
            <a:off x="7406640" y="5596128"/>
            <a:ext cx="658368" cy="658368"/>
          </a:xfrm>
          <a:prstGeom prst="ellipse">
            <a:avLst/>
          </a:prstGeom>
          <a:solidFill>
            <a:srgbClr val="FFF1E8"/>
          </a:solidFill>
          <a:ln w="3175">
            <a:solidFill>
              <a:srgbClr val="FFF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8" name="Image 12" descr="Desserts illustration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61504" y="5650992"/>
            <a:ext cx="548640" cy="548640"/>
          </a:xfrm>
          <a:prstGeom prst="rect">
            <a:avLst/>
          </a:prstGeom>
        </p:spPr>
      </p:pic>
      <p:sp>
        <p:nvSpPr>
          <p:cNvPr id="59" name="Text 44"/>
          <p:cNvSpPr txBox="1"/>
          <p:nvPr/>
        </p:nvSpPr>
        <p:spPr>
          <a:xfrm>
            <a:off x="8183880" y="559612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Desserts</a:t>
            </a:r>
            <a:endParaRPr lang="en-US" sz="1400" dirty="0"/>
          </a:p>
        </p:txBody>
      </p:sp>
      <p:sp>
        <p:nvSpPr>
          <p:cNvPr id="60" name="Shape 45"/>
          <p:cNvSpPr/>
          <p:nvPr/>
        </p:nvSpPr>
        <p:spPr>
          <a:xfrm>
            <a:off x="9601200" y="5596128"/>
            <a:ext cx="658368" cy="658368"/>
          </a:xfrm>
          <a:prstGeom prst="ellipse">
            <a:avLst/>
          </a:prstGeom>
          <a:solidFill>
            <a:srgbClr val="FFF1E8"/>
          </a:solidFill>
          <a:ln w="3175">
            <a:solidFill>
              <a:srgbClr val="FFF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1" name="Image 13" descr="Beverages illustration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56064" y="5650992"/>
            <a:ext cx="548640" cy="548640"/>
          </a:xfrm>
          <a:prstGeom prst="rect">
            <a:avLst/>
          </a:prstGeom>
        </p:spPr>
      </p:pic>
      <p:sp>
        <p:nvSpPr>
          <p:cNvPr id="62" name="Text 46"/>
          <p:cNvSpPr txBox="1"/>
          <p:nvPr/>
        </p:nvSpPr>
        <p:spPr>
          <a:xfrm>
            <a:off x="10378440" y="559612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Beverages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THE CHALLENGE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121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r>
              <a:rPr lang="en-US" sz="3600" b="1" dirty="0">
                <a:solidFill>
                  <a:srgbClr val="2B1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600" b="1" dirty="0">
                <a:solidFill>
                  <a:srgbClr val="2B121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Statement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hape 2"/>
          <p:cNvSpPr/>
          <p:nvPr/>
        </p:nvSpPr>
        <p:spPr>
          <a:xfrm>
            <a:off x="9006840" y="256032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FF1E8"/>
          </a:solidFill>
          <a:ln w="9525">
            <a:solidFill>
              <a:srgbClr val="F6D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052560" y="292608"/>
            <a:ext cx="274320" cy="274320"/>
          </a:xfrm>
          <a:prstGeom prst="ellipse">
            <a:avLst/>
          </a:prstGeom>
          <a:solidFill>
            <a:srgbClr val="E23744"/>
          </a:solidFill>
          <a:ln w="3175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Brand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6568" y="356616"/>
            <a:ext cx="146304" cy="1463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418320" y="25603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</a:t>
            </a:r>
            <a:r>
              <a:rPr lang="en-US" sz="1100" b="1" dirty="0" err="1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Cheyyandi</a:t>
            </a:r>
            <a:r>
              <a:rPr lang="en-US" sz="11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Aaha</a:t>
            </a:r>
            <a:r>
              <a:rPr lang="en-US" sz="11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Anandi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Food Delivery Website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744200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A9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07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2984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E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food ordering is slow, opaque and error-prone.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1828800"/>
            <a:ext cx="2834640" cy="201168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9525">
            <a:solidFill>
              <a:srgbClr val="F3E4DA"/>
            </a:solidFill>
            <a:prstDash val="solid"/>
          </a:ln>
          <a:effectLst>
            <a:outerShdw blurRad="1778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777240" y="2057400"/>
            <a:ext cx="685800" cy="685800"/>
          </a:xfrm>
          <a:prstGeom prst="ellipse">
            <a:avLst/>
          </a:prstGeom>
          <a:solidFill>
            <a:srgbClr val="E23744"/>
          </a:solidFill>
          <a:ln w="3175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HourglassHalf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690" y="2228850"/>
            <a:ext cx="342900" cy="3429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468880" y="20574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9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777240" y="28529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Waiting Times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777240" y="322783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 phone lines and manual order-taking delay every order.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520440" y="1828800"/>
            <a:ext cx="2834640" cy="201168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9525">
            <a:solidFill>
              <a:srgbClr val="F3E4DA"/>
            </a:solidFill>
            <a:prstDash val="solid"/>
          </a:ln>
          <a:effectLst>
            <a:outerShdw blurRad="1778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3749040" y="2057400"/>
            <a:ext cx="685800" cy="685800"/>
          </a:xfrm>
          <a:prstGeom prst="ellipse">
            <a:avLst/>
          </a:prstGeom>
          <a:solidFill>
            <a:srgbClr val="FC8019"/>
          </a:solidFill>
          <a:ln w="3175">
            <a:solidFill>
              <a:srgbClr val="FC801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2" descr="MapMarkedAlt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0490" y="2228850"/>
            <a:ext cx="342900" cy="3429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440680" y="20574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9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3749040" y="28529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Order Tracking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3749040" y="322783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can't see order status or the delivery time.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48640" y="3977640"/>
            <a:ext cx="2834640" cy="201168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9525">
            <a:solidFill>
              <a:srgbClr val="F3E4DA"/>
            </a:solidFill>
            <a:prstDash val="solid"/>
          </a:ln>
          <a:effectLst>
            <a:outerShdw blurRad="1778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777240" y="4206240"/>
            <a:ext cx="685800" cy="685800"/>
          </a:xfrm>
          <a:prstGeom prst="ellipse">
            <a:avLst/>
          </a:prstGeom>
          <a:solidFill>
            <a:srgbClr val="E23744"/>
          </a:solidFill>
          <a:ln w="3175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3" descr="MoneyBillWave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690" y="4377690"/>
            <a:ext cx="342900" cy="3429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2468880" y="42062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9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777240" y="50017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Difficulties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777240" y="537667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Cash-only orders, change issues and no secure digital options.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3520440" y="3977640"/>
            <a:ext cx="2834640" cy="201168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9525">
            <a:solidFill>
              <a:srgbClr val="F3E4DA"/>
            </a:solidFill>
            <a:prstDash val="solid"/>
          </a:ln>
          <a:effectLst>
            <a:outerShdw blurRad="1778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4"/>
          <p:cNvSpPr/>
          <p:nvPr/>
        </p:nvSpPr>
        <p:spPr>
          <a:xfrm>
            <a:off x="3749040" y="4206240"/>
            <a:ext cx="685800" cy="685800"/>
          </a:xfrm>
          <a:prstGeom prst="ellipse">
            <a:avLst/>
          </a:prstGeom>
          <a:solidFill>
            <a:srgbClr val="FC8019"/>
          </a:solidFill>
          <a:ln w="3175">
            <a:solidFill>
              <a:srgbClr val="FC801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1" name="Image 4" descr="ExclamationTriangle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0490" y="4377690"/>
            <a:ext cx="342900" cy="3429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440680" y="42062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9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3749040" y="50017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&amp; Limited Choice</a:t>
            </a:r>
            <a:endParaRPr lang="en-US" sz="1600" dirty="0"/>
          </a:p>
        </p:txBody>
      </p:sp>
      <p:sp>
        <p:nvSpPr>
          <p:cNvPr id="34" name="Text 27"/>
          <p:cNvSpPr txBox="1"/>
          <p:nvPr/>
        </p:nvSpPr>
        <p:spPr>
          <a:xfrm>
            <a:off x="3749040" y="537667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menus, wrong orders and no reviews to guide choices.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6446520" y="1828800"/>
            <a:ext cx="5212080" cy="4160520"/>
          </a:xfrm>
          <a:prstGeom prst="roundRect">
            <a:avLst>
              <a:gd name="adj" fmla="val 3956"/>
            </a:avLst>
          </a:prstGeom>
          <a:solidFill>
            <a:srgbClr val="FFFFFF"/>
          </a:solidFill>
          <a:ln w="9525">
            <a:solidFill>
              <a:srgbClr val="F3E4DA"/>
            </a:solidFill>
            <a:prstDash val="solid"/>
          </a:ln>
          <a:effectLst>
            <a:outerShdw blurRad="1778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Text 29"/>
          <p:cNvSpPr txBox="1"/>
          <p:nvPr/>
        </p:nvSpPr>
        <p:spPr>
          <a:xfrm>
            <a:off x="672084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frustrates customers most</a:t>
            </a:r>
            <a:endParaRPr lang="en-US" sz="1600" dirty="0"/>
          </a:p>
        </p:txBody>
      </p:sp>
      <p:sp>
        <p:nvSpPr>
          <p:cNvPr id="37" name="Text 30"/>
          <p:cNvSpPr txBox="1"/>
          <p:nvPr/>
        </p:nvSpPr>
        <p:spPr>
          <a:xfrm>
            <a:off x="6751320" y="2313432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00" dirty="0"/>
          </a:p>
        </p:txBody>
      </p:sp>
      <p:graphicFrame>
        <p:nvGraphicFramePr>
          <p:cNvPr id="38" name="Chart 0"/>
          <p:cNvGraphicFramePr/>
          <p:nvPr/>
        </p:nvGraphicFramePr>
        <p:xfrm>
          <a:off x="6583680" y="2606040"/>
          <a:ext cx="49377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</p:cSld>
  <p:clrMapOvr>
    <a:masterClrMapping/>
  </p:clrMapOvr>
  <p:transition spd="slow">
    <p:comb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1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 &amp; Technologies Used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006840" y="256032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FF1E8"/>
          </a:solidFill>
          <a:ln w="9525">
            <a:solidFill>
              <a:srgbClr val="F6D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052560" y="292608"/>
            <a:ext cx="274320" cy="274320"/>
          </a:xfrm>
          <a:prstGeom prst="ellipse">
            <a:avLst/>
          </a:prstGeom>
          <a:solidFill>
            <a:srgbClr val="E23744"/>
          </a:solidFill>
          <a:ln w="3175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Brand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6568" y="356616"/>
            <a:ext cx="146304" cy="1463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418320" y="25603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</a:t>
            </a:r>
            <a:r>
              <a:rPr lang="en-US" sz="1100" b="1" dirty="0" err="1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Cheyyandi</a:t>
            </a:r>
            <a:r>
              <a:rPr lang="en-US" sz="11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Aaha</a:t>
            </a:r>
            <a:r>
              <a:rPr lang="en-US" sz="11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Anandi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Food Delivery Website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744200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A9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07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463040"/>
            <a:ext cx="45720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05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2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food browsing.</a:t>
            </a:r>
          </a:p>
          <a:p>
            <a:pPr marL="285750" indent="-285750">
              <a:lnSpc>
                <a:spcPct val="105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2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order tracking.</a:t>
            </a:r>
          </a:p>
          <a:p>
            <a:pPr marL="285750" indent="-285750">
              <a:lnSpc>
                <a:spcPct val="105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2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price checking.</a:t>
            </a:r>
          </a:p>
          <a:p>
            <a:pPr marL="285750" indent="-285750">
              <a:lnSpc>
                <a:spcPct val="105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2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Ordering.</a:t>
            </a:r>
          </a:p>
          <a:p>
            <a:pPr marL="285750" indent="-285750">
              <a:lnSpc>
                <a:spcPct val="105000"/>
              </a:lnSpc>
              <a:buFont typeface="Wingdings" panose="05000000000000000000" pitchFamily="2" charset="2"/>
              <a:buChar char="Ø"/>
            </a:pP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3063240"/>
            <a:ext cx="1417320" cy="1353312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F3E4DA"/>
            </a:solidFill>
            <a:prstDash val="solid"/>
          </a:ln>
          <a:effectLst>
            <a:outerShdw blurRad="1778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1" descr="HTML5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227832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48640" y="38130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0690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2075688" y="3063240"/>
            <a:ext cx="1417320" cy="1353312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F3E4DA"/>
            </a:solidFill>
            <a:prstDash val="solid"/>
          </a:ln>
          <a:effectLst>
            <a:outerShdw blurRad="1778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7" name="Image 2" descr="CSS3 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2888" y="3227832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2075688" y="38130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2075688" y="40690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602736" y="3063240"/>
            <a:ext cx="1417320" cy="1353312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F3E4DA"/>
            </a:solidFill>
            <a:prstDash val="solid"/>
          </a:ln>
          <a:effectLst>
            <a:outerShdw blurRad="1778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1" name="Image 3" descr="JavaScript 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9936" y="3227832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3602736" y="38130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3602736" y="40690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Interactivity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2075688" y="4526280"/>
            <a:ext cx="1417320" cy="1353312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F3E4DA"/>
            </a:solidFill>
            <a:prstDash val="solid"/>
          </a:ln>
          <a:effectLst>
            <a:outerShdw blurRad="1778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2"/>
          <p:cNvSpPr txBox="1"/>
          <p:nvPr/>
        </p:nvSpPr>
        <p:spPr>
          <a:xfrm>
            <a:off x="2075688" y="52760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2075688" y="55321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ChatGPT</a:t>
            </a:r>
            <a:endParaRPr lang="en-US" sz="1100" dirty="0"/>
          </a:p>
        </p:txBody>
      </p:sp>
      <p:sp>
        <p:nvSpPr>
          <p:cNvPr id="35" name="Text 25"/>
          <p:cNvSpPr txBox="1"/>
          <p:nvPr/>
        </p:nvSpPr>
        <p:spPr>
          <a:xfrm>
            <a:off x="3602736" y="52760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6" name="Text 26"/>
          <p:cNvSpPr txBox="1"/>
          <p:nvPr/>
        </p:nvSpPr>
        <p:spPr>
          <a:xfrm>
            <a:off x="3602736" y="55321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7" name="Shape 27"/>
          <p:cNvSpPr/>
          <p:nvPr/>
        </p:nvSpPr>
        <p:spPr>
          <a:xfrm>
            <a:off x="5261595" y="1319151"/>
            <a:ext cx="6484649" cy="4416552"/>
          </a:xfrm>
          <a:prstGeom prst="roundRect">
            <a:avLst>
              <a:gd name="adj" fmla="val 3727"/>
            </a:avLst>
          </a:prstGeom>
          <a:solidFill>
            <a:srgbClr val="FFFFFF"/>
          </a:solidFill>
          <a:ln w="9525">
            <a:solidFill>
              <a:srgbClr val="F3E4DA"/>
            </a:solidFill>
            <a:prstDash val="solid"/>
          </a:ln>
          <a:effectLst>
            <a:outerShdw blurRad="1778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Text 28"/>
          <p:cNvSpPr txBox="1"/>
          <p:nvPr/>
        </p:nvSpPr>
        <p:spPr>
          <a:xfrm>
            <a:off x="553212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39" name="Shape 29"/>
          <p:cNvSpPr/>
          <p:nvPr/>
        </p:nvSpPr>
        <p:spPr>
          <a:xfrm>
            <a:off x="5532120" y="2405059"/>
            <a:ext cx="1645920" cy="2286000"/>
          </a:xfrm>
          <a:prstGeom prst="roundRect">
            <a:avLst>
              <a:gd name="adj" fmla="val 8889"/>
            </a:avLst>
          </a:prstGeom>
          <a:solidFill>
            <a:srgbClr val="FFF1E8"/>
          </a:solidFill>
          <a:ln w="9525">
            <a:solidFill>
              <a:srgbClr val="F6D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0"/>
          <p:cNvSpPr/>
          <p:nvPr/>
        </p:nvSpPr>
        <p:spPr>
          <a:xfrm>
            <a:off x="6080760" y="2531590"/>
            <a:ext cx="512064" cy="512064"/>
          </a:xfrm>
          <a:prstGeom prst="ellipse">
            <a:avLst/>
          </a:prstGeom>
          <a:solidFill>
            <a:srgbClr val="FC8019"/>
          </a:solidFill>
          <a:ln w="3175">
            <a:solidFill>
              <a:srgbClr val="FC801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1" name="Image 8" descr="Desktop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402" y="2669694"/>
            <a:ext cx="256032" cy="256032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5507363" y="3005779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Structure</a:t>
            </a:r>
            <a:endParaRPr lang="en-US" sz="1400" dirty="0"/>
          </a:p>
        </p:txBody>
      </p:sp>
      <p:sp>
        <p:nvSpPr>
          <p:cNvPr id="43" name="Text 32"/>
          <p:cNvSpPr txBox="1"/>
          <p:nvPr/>
        </p:nvSpPr>
        <p:spPr>
          <a:xfrm>
            <a:off x="5484502" y="32278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000" dirty="0"/>
          </a:p>
        </p:txBody>
      </p:sp>
      <p:sp>
        <p:nvSpPr>
          <p:cNvPr id="44" name="Text 33"/>
          <p:cNvSpPr txBox="1"/>
          <p:nvPr/>
        </p:nvSpPr>
        <p:spPr>
          <a:xfrm>
            <a:off x="5730614" y="3575304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Content </a:t>
            </a:r>
            <a:r>
              <a:rPr lang="en-US" sz="1100" dirty="0" err="1">
                <a:solidFill>
                  <a:srgbClr val="2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Skeleten</a:t>
            </a:r>
            <a:r>
              <a:rPr lang="en-US" sz="1100" dirty="0">
                <a:solidFill>
                  <a:srgbClr val="2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images &amp; links.</a:t>
            </a:r>
            <a:endParaRPr lang="en-US" sz="11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endParaRPr lang="en-US" sz="1100" dirty="0"/>
          </a:p>
        </p:txBody>
      </p:sp>
      <p:sp>
        <p:nvSpPr>
          <p:cNvPr id="45" name="Shape 34"/>
          <p:cNvSpPr/>
          <p:nvPr/>
        </p:nvSpPr>
        <p:spPr>
          <a:xfrm>
            <a:off x="7680960" y="2396413"/>
            <a:ext cx="1645920" cy="2286000"/>
          </a:xfrm>
          <a:prstGeom prst="roundRect">
            <a:avLst>
              <a:gd name="adj" fmla="val 8889"/>
            </a:avLst>
          </a:prstGeom>
          <a:solidFill>
            <a:srgbClr val="FFF1E8"/>
          </a:solidFill>
          <a:ln w="9525">
            <a:solidFill>
              <a:srgbClr val="F6D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35"/>
          <p:cNvSpPr/>
          <p:nvPr/>
        </p:nvSpPr>
        <p:spPr>
          <a:xfrm>
            <a:off x="8247888" y="2514760"/>
            <a:ext cx="512064" cy="512064"/>
          </a:xfrm>
          <a:prstGeom prst="ellipse">
            <a:avLst/>
          </a:prstGeom>
          <a:solidFill>
            <a:schemeClr val="bg1"/>
          </a:solidFill>
          <a:ln w="3175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36"/>
          <p:cNvSpPr txBox="1"/>
          <p:nvPr/>
        </p:nvSpPr>
        <p:spPr>
          <a:xfrm>
            <a:off x="7680960" y="2987321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1400" dirty="0"/>
          </a:p>
        </p:txBody>
      </p:sp>
      <p:sp>
        <p:nvSpPr>
          <p:cNvPr id="49" name="Text 37"/>
          <p:cNvSpPr txBox="1"/>
          <p:nvPr/>
        </p:nvSpPr>
        <p:spPr>
          <a:xfrm>
            <a:off x="7683550" y="324335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000" dirty="0"/>
          </a:p>
        </p:txBody>
      </p:sp>
      <p:sp>
        <p:nvSpPr>
          <p:cNvPr id="50" name="Text 38"/>
          <p:cNvSpPr txBox="1"/>
          <p:nvPr/>
        </p:nvSpPr>
        <p:spPr>
          <a:xfrm>
            <a:off x="7790688" y="3547176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100" dirty="0"/>
              <a:t>Using Colors, Background.</a:t>
            </a:r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stylesheet.</a:t>
            </a:r>
            <a:endParaRPr lang="en-US" sz="1100" dirty="0"/>
          </a:p>
        </p:txBody>
      </p:sp>
      <p:sp>
        <p:nvSpPr>
          <p:cNvPr id="51" name="Shape 39"/>
          <p:cNvSpPr/>
          <p:nvPr/>
        </p:nvSpPr>
        <p:spPr>
          <a:xfrm>
            <a:off x="9829800" y="2379162"/>
            <a:ext cx="1645920" cy="2286000"/>
          </a:xfrm>
          <a:prstGeom prst="roundRect">
            <a:avLst>
              <a:gd name="adj" fmla="val 8889"/>
            </a:avLst>
          </a:prstGeom>
          <a:solidFill>
            <a:srgbClr val="FFF1E8"/>
          </a:solidFill>
          <a:ln w="9525">
            <a:solidFill>
              <a:srgbClr val="F6D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40"/>
          <p:cNvSpPr/>
          <p:nvPr/>
        </p:nvSpPr>
        <p:spPr>
          <a:xfrm>
            <a:off x="10396728" y="2523398"/>
            <a:ext cx="512064" cy="512064"/>
          </a:xfrm>
          <a:prstGeom prst="ellipse">
            <a:avLst/>
          </a:prstGeom>
          <a:solidFill>
            <a:srgbClr val="7A1420"/>
          </a:solidFill>
          <a:ln w="3175">
            <a:solidFill>
              <a:srgbClr val="7A14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41"/>
          <p:cNvSpPr txBox="1"/>
          <p:nvPr/>
        </p:nvSpPr>
        <p:spPr>
          <a:xfrm>
            <a:off x="9829800" y="2961443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Interactivity</a:t>
            </a:r>
            <a:endParaRPr lang="en-US" sz="1400" dirty="0"/>
          </a:p>
        </p:txBody>
      </p:sp>
      <p:sp>
        <p:nvSpPr>
          <p:cNvPr id="55" name="Text 42"/>
          <p:cNvSpPr txBox="1"/>
          <p:nvPr/>
        </p:nvSpPr>
        <p:spPr>
          <a:xfrm>
            <a:off x="9875520" y="3226103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Script</a:t>
            </a:r>
            <a:endParaRPr lang="en-US" sz="1000" dirty="0"/>
          </a:p>
        </p:txBody>
      </p:sp>
      <p:sp>
        <p:nvSpPr>
          <p:cNvPr id="56" name="Text 43"/>
          <p:cNvSpPr txBox="1"/>
          <p:nvPr/>
        </p:nvSpPr>
        <p:spPr>
          <a:xfrm>
            <a:off x="9939528" y="3529925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and Action</a:t>
            </a:r>
            <a:endParaRPr lang="en-US" sz="11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user clicks.</a:t>
            </a:r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D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user entries.</a:t>
            </a:r>
            <a:endParaRPr lang="en-US" sz="1100" dirty="0"/>
          </a:p>
        </p:txBody>
      </p:sp>
      <p:sp>
        <p:nvSpPr>
          <p:cNvPr id="57" name="Shape 44"/>
          <p:cNvSpPr/>
          <p:nvPr/>
        </p:nvSpPr>
        <p:spPr>
          <a:xfrm>
            <a:off x="7178040" y="3556670"/>
            <a:ext cx="502920" cy="0"/>
          </a:xfrm>
          <a:prstGeom prst="line">
            <a:avLst/>
          </a:prstGeom>
          <a:noFill/>
          <a:ln w="31750">
            <a:solidFill>
              <a:srgbClr val="FC8019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45"/>
          <p:cNvSpPr/>
          <p:nvPr/>
        </p:nvSpPr>
        <p:spPr>
          <a:xfrm>
            <a:off x="9326880" y="3539410"/>
            <a:ext cx="502920" cy="0"/>
          </a:xfrm>
          <a:prstGeom prst="line">
            <a:avLst/>
          </a:prstGeom>
          <a:noFill/>
          <a:ln w="31750">
            <a:solidFill>
              <a:srgbClr val="FC8019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46"/>
          <p:cNvSpPr txBox="1"/>
          <p:nvPr/>
        </p:nvSpPr>
        <p:spPr>
          <a:xfrm>
            <a:off x="7178040" y="3273715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E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000" dirty="0"/>
          </a:p>
        </p:txBody>
      </p:sp>
      <p:sp>
        <p:nvSpPr>
          <p:cNvPr id="60" name="Text 47"/>
          <p:cNvSpPr txBox="1"/>
          <p:nvPr/>
        </p:nvSpPr>
        <p:spPr>
          <a:xfrm>
            <a:off x="9326880" y="32909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E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endParaRPr lang="en-US" sz="1000" dirty="0"/>
          </a:p>
        </p:txBody>
      </p:sp>
      <p:sp>
        <p:nvSpPr>
          <p:cNvPr id="61" name="Text 48"/>
          <p:cNvSpPr txBox="1"/>
          <p:nvPr/>
        </p:nvSpPr>
        <p:spPr>
          <a:xfrm>
            <a:off x="5532120" y="44622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pic>
        <p:nvPicPr>
          <p:cNvPr id="76" name="Image 2" descr="CSS3 logo">
            <a:extLst>
              <a:ext uri="{FF2B5EF4-FFF2-40B4-BE49-F238E27FC236}">
                <a16:creationId xmlns:a16="http://schemas.microsoft.com/office/drawing/2014/main" id="{7E0EE36E-0C4A-D5FE-1B19-C1CEBD15AC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0667" y="2596891"/>
            <a:ext cx="440637" cy="440637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837F631A-9B8C-C676-BB18-799BB53E054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75178" y="4577654"/>
            <a:ext cx="584446" cy="584446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D95DFDB1-9947-FD6D-3118-4133706AEBA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75226" y="2608275"/>
            <a:ext cx="386120" cy="3861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WHAT IT OFFERS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1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Features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006840" y="256032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FF1E8"/>
          </a:solidFill>
          <a:ln w="9525">
            <a:solidFill>
              <a:srgbClr val="F6D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052560" y="292608"/>
            <a:ext cx="274320" cy="274320"/>
          </a:xfrm>
          <a:prstGeom prst="ellipse">
            <a:avLst/>
          </a:prstGeom>
          <a:solidFill>
            <a:srgbClr val="E23744"/>
          </a:solidFill>
          <a:ln w="3175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Brand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6568" y="356616"/>
            <a:ext cx="146304" cy="1463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418320" y="25603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</a:t>
            </a:r>
            <a:r>
              <a:rPr lang="en-US" sz="1100" b="1" dirty="0" err="1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Cheyyandi</a:t>
            </a:r>
            <a:r>
              <a:rPr lang="en-US" sz="11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Aaha</a:t>
            </a:r>
            <a:r>
              <a:rPr lang="en-US" sz="11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Anandi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3869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Food Delivery Website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744200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A9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07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1463040"/>
            <a:ext cx="2651760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3E4DA"/>
            </a:solidFill>
            <a:prstDash val="solid"/>
          </a:ln>
          <a:effectLst>
            <a:outerShdw blurRad="1778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713232" y="1737360"/>
            <a:ext cx="548640" cy="548640"/>
          </a:xfrm>
          <a:prstGeom prst="ellipse">
            <a:avLst/>
          </a:prstGeom>
          <a:solidFill>
            <a:srgbClr val="E23744"/>
          </a:solidFill>
          <a:ln w="3175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1" descr="UserPlu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18745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389888" y="1536192"/>
            <a:ext cx="17373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 &amp; Login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E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sign-up with saved profiles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337560" y="1463040"/>
            <a:ext cx="2651760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3E4DA"/>
            </a:solidFill>
            <a:prstDash val="solid"/>
          </a:ln>
          <a:effectLst>
            <a:outerShdw blurRad="1778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3502152" y="1737360"/>
            <a:ext cx="548640" cy="548640"/>
          </a:xfrm>
          <a:prstGeom prst="ellipse">
            <a:avLst/>
          </a:prstGeom>
          <a:solidFill>
            <a:srgbClr val="FC8019"/>
          </a:solidFill>
          <a:ln w="3175">
            <a:solidFill>
              <a:srgbClr val="FC801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Store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9312" y="187452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178808" y="1536192"/>
            <a:ext cx="17373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Listings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E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Menus, ratings and timings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66646" y="2839392"/>
            <a:ext cx="2651760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3E4DA"/>
            </a:solidFill>
            <a:prstDash val="solid"/>
          </a:ln>
          <a:effectLst>
            <a:outerShdw blurRad="1778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629728" y="3085728"/>
            <a:ext cx="548640" cy="548640"/>
          </a:xfrm>
          <a:prstGeom prst="ellipse">
            <a:avLst/>
          </a:prstGeom>
          <a:solidFill>
            <a:srgbClr val="E23744"/>
          </a:solidFill>
          <a:ln w="3175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20" name="Image 3" descr="Search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459" y="3241945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06384" y="2850168"/>
            <a:ext cx="17373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 Foods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E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by cuisine, price or rating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6169039" y="1474928"/>
            <a:ext cx="2651760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3E4DA"/>
            </a:solidFill>
            <a:prstDash val="solid"/>
          </a:ln>
          <a:effectLst>
            <a:outerShdw blurRad="1778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7"/>
          <p:cNvSpPr/>
          <p:nvPr/>
        </p:nvSpPr>
        <p:spPr>
          <a:xfrm>
            <a:off x="6331906" y="1749248"/>
            <a:ext cx="548640" cy="548640"/>
          </a:xfrm>
          <a:prstGeom prst="ellipse">
            <a:avLst/>
          </a:prstGeom>
          <a:solidFill>
            <a:srgbClr val="FC8019"/>
          </a:solidFill>
          <a:ln w="3175">
            <a:solidFill>
              <a:srgbClr val="FC801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4" descr="ShoppingCart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8245" y="1861713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047789" y="1493062"/>
            <a:ext cx="17373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E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Customise items and quantities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497832" y="4197486"/>
            <a:ext cx="2651760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3E4DA"/>
            </a:solidFill>
            <a:prstDash val="solid"/>
          </a:ln>
          <a:effectLst>
            <a:outerShdw blurRad="1778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0"/>
          <p:cNvSpPr/>
          <p:nvPr/>
        </p:nvSpPr>
        <p:spPr>
          <a:xfrm>
            <a:off x="660222" y="4458492"/>
            <a:ext cx="548640" cy="548640"/>
          </a:xfrm>
          <a:prstGeom prst="ellipse">
            <a:avLst/>
          </a:prstGeom>
          <a:solidFill>
            <a:srgbClr val="FC8019"/>
          </a:solidFill>
          <a:ln w="3175">
            <a:solidFill>
              <a:srgbClr val="FC801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28" name="Image 5" descr="CreditCard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3459" y="4617720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302761" y="4247080"/>
            <a:ext cx="17373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E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UPI, cards and wallets, safely</a:t>
            </a:r>
            <a:endParaRPr lang="en-US" sz="1300" dirty="0"/>
          </a:p>
        </p:txBody>
      </p:sp>
      <p:sp>
        <p:nvSpPr>
          <p:cNvPr id="30" name="Shape 22"/>
          <p:cNvSpPr/>
          <p:nvPr/>
        </p:nvSpPr>
        <p:spPr>
          <a:xfrm>
            <a:off x="3337560" y="2835496"/>
            <a:ext cx="2651760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3E4DA"/>
            </a:solidFill>
            <a:prstDash val="solid"/>
          </a:ln>
          <a:effectLst>
            <a:outerShdw blurRad="1778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3"/>
          <p:cNvSpPr/>
          <p:nvPr/>
        </p:nvSpPr>
        <p:spPr>
          <a:xfrm>
            <a:off x="3502152" y="2997678"/>
            <a:ext cx="548640" cy="548640"/>
          </a:xfrm>
          <a:prstGeom prst="ellipse">
            <a:avLst/>
          </a:prstGeom>
          <a:solidFill>
            <a:srgbClr val="E23744"/>
          </a:solidFill>
          <a:ln w="3175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2" name="Image 6" descr="MapMarkedAlt 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39312" y="3126212"/>
            <a:ext cx="274320" cy="27432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4178808" y="2762006"/>
            <a:ext cx="17373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Order Tracking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E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order in real time</a:t>
            </a:r>
            <a:endParaRPr lang="en-US" sz="1300" dirty="0"/>
          </a:p>
        </p:txBody>
      </p:sp>
      <p:sp>
        <p:nvSpPr>
          <p:cNvPr id="34" name="Shape 25"/>
          <p:cNvSpPr/>
          <p:nvPr/>
        </p:nvSpPr>
        <p:spPr>
          <a:xfrm>
            <a:off x="6169039" y="4180234"/>
            <a:ext cx="2651760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3E4DA"/>
            </a:solidFill>
            <a:prstDash val="solid"/>
          </a:ln>
          <a:effectLst>
            <a:outerShdw blurRad="1778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26"/>
          <p:cNvSpPr/>
          <p:nvPr/>
        </p:nvSpPr>
        <p:spPr>
          <a:xfrm>
            <a:off x="6415294" y="4425912"/>
            <a:ext cx="548640" cy="548640"/>
          </a:xfrm>
          <a:prstGeom prst="ellipse">
            <a:avLst/>
          </a:prstGeom>
          <a:solidFill>
            <a:srgbClr val="FC8019"/>
          </a:solidFill>
          <a:ln w="3175">
            <a:solidFill>
              <a:srgbClr val="FC801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6" name="Image 7" descr="Star icon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67408" y="4563072"/>
            <a:ext cx="274320" cy="274320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7068320" y="4191232"/>
            <a:ext cx="17373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&amp; Reviews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E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on food and delivery</a:t>
            </a:r>
            <a:endParaRPr lang="en-US" sz="1300" dirty="0"/>
          </a:p>
        </p:txBody>
      </p:sp>
      <p:sp>
        <p:nvSpPr>
          <p:cNvPr id="38" name="Shape 28"/>
          <p:cNvSpPr/>
          <p:nvPr/>
        </p:nvSpPr>
        <p:spPr>
          <a:xfrm>
            <a:off x="6169039" y="2833080"/>
            <a:ext cx="2651760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3E4DA"/>
            </a:solidFill>
            <a:prstDash val="solid"/>
          </a:ln>
          <a:effectLst>
            <a:outerShdw blurRad="1778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29"/>
          <p:cNvSpPr/>
          <p:nvPr/>
        </p:nvSpPr>
        <p:spPr>
          <a:xfrm>
            <a:off x="6359511" y="3100576"/>
            <a:ext cx="548640" cy="548640"/>
          </a:xfrm>
          <a:prstGeom prst="ellipse">
            <a:avLst/>
          </a:prstGeom>
          <a:solidFill>
            <a:srgbClr val="E23744"/>
          </a:solidFill>
          <a:ln w="3175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0" name="Image 8" descr="MobileAlt icon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96671" y="3254990"/>
            <a:ext cx="274320" cy="274320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7011559" y="2843235"/>
            <a:ext cx="17373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E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phone, tablet, desktop</a:t>
            </a:r>
            <a:endParaRPr lang="en-US" sz="1300" dirty="0"/>
          </a:p>
        </p:txBody>
      </p:sp>
      <p:sp>
        <p:nvSpPr>
          <p:cNvPr id="43" name="Text 32"/>
          <p:cNvSpPr txBox="1"/>
          <p:nvPr/>
        </p:nvSpPr>
        <p:spPr>
          <a:xfrm>
            <a:off x="822960" y="4133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44" name="Text 33"/>
          <p:cNvSpPr txBox="1"/>
          <p:nvPr/>
        </p:nvSpPr>
        <p:spPr>
          <a:xfrm>
            <a:off x="8778240" y="413308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F2FDDC21-3400-49BC-B680-B60D7274387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20862" y="3936672"/>
            <a:ext cx="2544792" cy="2177747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444944-22A9-7A28-E217-ACB35F692A6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16568" y="2218531"/>
            <a:ext cx="2546214" cy="24554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SEE IT IN ACTION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1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Screenshots &amp; Live Demo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006840" y="256032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FF1E8"/>
          </a:solidFill>
          <a:ln w="9525">
            <a:solidFill>
              <a:srgbClr val="F6D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052560" y="292608"/>
            <a:ext cx="274320" cy="274320"/>
          </a:xfrm>
          <a:prstGeom prst="ellipse">
            <a:avLst/>
          </a:prstGeom>
          <a:solidFill>
            <a:srgbClr val="E23744"/>
          </a:solidFill>
          <a:ln w="3175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Brand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6568" y="356616"/>
            <a:ext cx="146304" cy="1463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418320" y="25603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</a:t>
            </a:r>
            <a:r>
              <a:rPr lang="en-US" sz="1100" b="1" dirty="0" err="1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Cheyyandi</a:t>
            </a:r>
            <a:r>
              <a:rPr lang="en-US" sz="11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Aaha</a:t>
            </a:r>
            <a:r>
              <a:rPr lang="en-US" sz="11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Anandi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Food Delivery Website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744200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A9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07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1371600"/>
            <a:ext cx="8641080" cy="3886200"/>
          </a:xfrm>
          <a:prstGeom prst="roundRect">
            <a:avLst>
              <a:gd name="adj" fmla="val 5176"/>
            </a:avLst>
          </a:prstGeom>
          <a:solidFill>
            <a:srgbClr val="FFF1E8"/>
          </a:solidFill>
          <a:ln w="9525">
            <a:solidFill>
              <a:srgbClr val="F6D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anim" descr="Home Page screensho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463040"/>
            <a:ext cx="1600200" cy="327629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02920" y="48006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1200" dirty="0"/>
          </a:p>
        </p:txBody>
      </p:sp>
      <p:pic>
        <p:nvPicPr>
          <p:cNvPr id="13" name="anim" descr="Menu Page screensho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7712" y="1463040"/>
            <a:ext cx="1600200" cy="327629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221992" y="48006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Page</a:t>
            </a:r>
            <a:endParaRPr lang="en-US" sz="1200" dirty="0"/>
          </a:p>
        </p:txBody>
      </p:sp>
      <p:pic>
        <p:nvPicPr>
          <p:cNvPr id="15" name="anim" descr="Cart Page screensho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86784" y="1463040"/>
            <a:ext cx="1600200" cy="327629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3941064" y="48006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Page</a:t>
            </a:r>
            <a:endParaRPr lang="en-US" sz="1200" dirty="0"/>
          </a:p>
        </p:txBody>
      </p:sp>
      <p:pic>
        <p:nvPicPr>
          <p:cNvPr id="17" name="anim" descr="Payment Page screensho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05856" y="1463040"/>
            <a:ext cx="1600200" cy="327629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660136" y="48006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Page</a:t>
            </a:r>
            <a:endParaRPr lang="en-US" sz="1200" dirty="0"/>
          </a:p>
        </p:txBody>
      </p:sp>
      <p:pic>
        <p:nvPicPr>
          <p:cNvPr id="19" name="anim" descr="Order Tracking screenshot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4928" y="1463040"/>
            <a:ext cx="1600200" cy="3276295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7379208" y="48006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Tracking</a:t>
            </a:r>
            <a:endParaRPr lang="en-US" sz="1200" dirty="0"/>
          </a:p>
        </p:txBody>
      </p:sp>
      <p:sp>
        <p:nvSpPr>
          <p:cNvPr id="21" name="Text 13"/>
          <p:cNvSpPr txBox="1"/>
          <p:nvPr/>
        </p:nvSpPr>
        <p:spPr>
          <a:xfrm>
            <a:off x="457200" y="5376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457200" y="5669280"/>
            <a:ext cx="1828800" cy="594360"/>
          </a:xfrm>
          <a:prstGeom prst="chevron">
            <a:avLst/>
          </a:prstGeom>
          <a:solidFill>
            <a:srgbClr val="E2374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5"/>
          <p:cNvSpPr txBox="1"/>
          <p:nvPr/>
        </p:nvSpPr>
        <p:spPr>
          <a:xfrm>
            <a:off x="731520" y="56692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</a:t>
            </a:r>
            <a:endParaRPr lang="en-US" sz="1200" dirty="0"/>
          </a:p>
        </p:txBody>
      </p:sp>
      <p:sp>
        <p:nvSpPr>
          <p:cNvPr id="24" name="Shape 16"/>
          <p:cNvSpPr/>
          <p:nvPr/>
        </p:nvSpPr>
        <p:spPr>
          <a:xfrm>
            <a:off x="2157984" y="5669280"/>
            <a:ext cx="1828800" cy="594360"/>
          </a:xfrm>
          <a:prstGeom prst="chevron">
            <a:avLst/>
          </a:prstGeom>
          <a:solidFill>
            <a:srgbClr val="EA4B3D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17"/>
          <p:cNvSpPr txBox="1"/>
          <p:nvPr/>
        </p:nvSpPr>
        <p:spPr>
          <a:xfrm>
            <a:off x="2432304" y="56692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3858768" y="5669280"/>
            <a:ext cx="1828800" cy="594360"/>
          </a:xfrm>
          <a:prstGeom prst="chevron">
            <a:avLst/>
          </a:prstGeom>
          <a:solidFill>
            <a:srgbClr val="F05F3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19"/>
          <p:cNvSpPr txBox="1"/>
          <p:nvPr/>
        </p:nvSpPr>
        <p:spPr>
          <a:xfrm>
            <a:off x="4133088" y="56692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Online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5559552" y="5669280"/>
            <a:ext cx="1828800" cy="594360"/>
          </a:xfrm>
          <a:prstGeom prst="chevron">
            <a:avLst/>
          </a:prstGeom>
          <a:solidFill>
            <a:srgbClr val="F5732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1"/>
          <p:cNvSpPr txBox="1"/>
          <p:nvPr/>
        </p:nvSpPr>
        <p:spPr>
          <a:xfrm>
            <a:off x="5833872" y="56692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Live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7260336" y="5669280"/>
            <a:ext cx="1828800" cy="594360"/>
          </a:xfrm>
          <a:prstGeom prst="chevron">
            <a:avLst/>
          </a:prstGeom>
          <a:solidFill>
            <a:srgbClr val="FC8019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3"/>
          <p:cNvSpPr txBox="1"/>
          <p:nvPr/>
        </p:nvSpPr>
        <p:spPr>
          <a:xfrm>
            <a:off x="7534656" y="56692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9326880" y="1371600"/>
            <a:ext cx="2331720" cy="489204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F3E4DA"/>
            </a:solidFill>
            <a:prstDash val="solid"/>
          </a:ln>
          <a:effectLst>
            <a:outerShdw blurRad="1778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25"/>
          <p:cNvSpPr txBox="1"/>
          <p:nvPr/>
        </p:nvSpPr>
        <p:spPr>
          <a:xfrm>
            <a:off x="9555480" y="16002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9555480" y="19019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try it live</a:t>
            </a:r>
            <a:endParaRPr lang="en-US" sz="1600" dirty="0"/>
          </a:p>
        </p:txBody>
      </p:sp>
      <p:sp>
        <p:nvSpPr>
          <p:cNvPr id="35" name="Shape 27"/>
          <p:cNvSpPr/>
          <p:nvPr/>
        </p:nvSpPr>
        <p:spPr>
          <a:xfrm>
            <a:off x="9601200" y="2423160"/>
            <a:ext cx="17830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C8019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29"/>
          <p:cNvSpPr/>
          <p:nvPr/>
        </p:nvSpPr>
        <p:spPr>
          <a:xfrm>
            <a:off x="9555480" y="4663440"/>
            <a:ext cx="1874520" cy="384048"/>
          </a:xfrm>
          <a:prstGeom prst="roundRect">
            <a:avLst>
              <a:gd name="adj" fmla="val 23810"/>
            </a:avLst>
          </a:prstGeom>
          <a:solidFill>
            <a:srgbClr val="FFF1E8"/>
          </a:solidFill>
          <a:ln w="9525">
            <a:solidFill>
              <a:srgbClr val="F6D9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0"/>
          <p:cNvSpPr txBox="1"/>
          <p:nvPr/>
        </p:nvSpPr>
        <p:spPr>
          <a:xfrm>
            <a:off x="9555480" y="466344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hlinkClick r:id="rId10"/>
              </a:rPr>
              <a:t>https://darling-sorbet-31b7fa.netlify.app/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555480" y="5212080"/>
            <a:ext cx="1874520" cy="502920"/>
          </a:xfrm>
          <a:prstGeom prst="roundRect">
            <a:avLst>
              <a:gd name="adj" fmla="val 49091"/>
            </a:avLst>
          </a:prstGeom>
          <a:solidFill>
            <a:srgbClr val="E23744"/>
          </a:solidFill>
          <a:ln w="3175">
            <a:solidFill>
              <a:srgbClr val="E23744"/>
            </a:solidFill>
            <a:prstDash val="solid"/>
          </a:ln>
          <a:effectLst>
            <a:outerShdw blurRad="177800" dist="508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1" name="Image 7" descr="Play icon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84080" y="5367528"/>
            <a:ext cx="182880" cy="182880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10058400" y="52120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Live Demo</a:t>
            </a:r>
            <a:endParaRPr lang="en-US" sz="1200" dirty="0"/>
          </a:p>
        </p:txBody>
      </p:sp>
      <p:sp>
        <p:nvSpPr>
          <p:cNvPr id="43" name="Text 33"/>
          <p:cNvSpPr txBox="1"/>
          <p:nvPr/>
        </p:nvSpPr>
        <p:spPr>
          <a:xfrm>
            <a:off x="9555480" y="58521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A9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on Chrome. Mobile ready.</a:t>
            </a:r>
            <a:endParaRPr lang="en-US" sz="1000" b="1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9996CD66-E451-2DD0-2D28-7EA4A9642B3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67105" y="2464907"/>
            <a:ext cx="1691297" cy="16912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B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|  WRAP 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006840" y="256032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052560" y="292608"/>
            <a:ext cx="274320" cy="274320"/>
          </a:xfrm>
          <a:prstGeom prst="ellipse">
            <a:avLst/>
          </a:prstGeom>
          <a:solidFill>
            <a:srgbClr val="E23744"/>
          </a:solidFill>
          <a:ln w="3175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Brand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6568" y="356616"/>
            <a:ext cx="146304" cy="1463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418320" y="25603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</a:t>
            </a: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Cheyyandi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Aaha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Anandi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9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Food Delivery Website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744200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9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07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1463040"/>
            <a:ext cx="5212080" cy="1920240"/>
          </a:xfrm>
          <a:prstGeom prst="roundRect">
            <a:avLst>
              <a:gd name="adj" fmla="val 9524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FC8019"/>
          </a:solidFill>
          <a:ln w="3175">
            <a:solidFill>
              <a:srgbClr val="FC801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1" descr="CheckCircl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" y="176022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371600" y="1645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224028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Cheyandi Aha Anandi brings customers, restaurants and delivery partners together on one responsive website, with easy ordering, secure payment and live order tracking.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548640" y="3566160"/>
            <a:ext cx="2514600" cy="1783080"/>
          </a:xfrm>
          <a:prstGeom prst="roundRect">
            <a:avLst>
              <a:gd name="adj" fmla="val 10256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731520" y="3703320"/>
            <a:ext cx="457200" cy="457200"/>
          </a:xfrm>
          <a:prstGeom prst="ellipse">
            <a:avLst/>
          </a:prstGeom>
          <a:solidFill>
            <a:srgbClr val="E23744"/>
          </a:solidFill>
          <a:ln w="3175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2" descr="Users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" y="3817620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25880" y="3703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Customers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777240" y="42976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easier ordering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order tracking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digital payments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3246120" y="3566160"/>
            <a:ext cx="2514600" cy="1783080"/>
          </a:xfrm>
          <a:prstGeom prst="roundRect">
            <a:avLst>
              <a:gd name="adj" fmla="val 10256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3429000" y="3703320"/>
            <a:ext cx="457200" cy="457200"/>
          </a:xfrm>
          <a:prstGeom prst="ellipse">
            <a:avLst/>
          </a:prstGeom>
          <a:solidFill>
            <a:srgbClr val="E23744"/>
          </a:solidFill>
          <a:ln w="3175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3" descr="Store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3300" y="3817620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4023360" y="3703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Restaurants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3474720" y="42976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customer reach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order handling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through reviews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612648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800" dirty="0"/>
          </a:p>
        </p:txBody>
      </p:sp>
      <p:sp>
        <p:nvSpPr>
          <p:cNvPr id="26" name="Shape 20"/>
          <p:cNvSpPr/>
          <p:nvPr/>
        </p:nvSpPr>
        <p:spPr>
          <a:xfrm>
            <a:off x="6126480" y="1965960"/>
            <a:ext cx="2651760" cy="1600200"/>
          </a:xfrm>
          <a:prstGeom prst="roundRect">
            <a:avLst>
              <a:gd name="adj" fmla="val 11429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1"/>
          <p:cNvSpPr/>
          <p:nvPr/>
        </p:nvSpPr>
        <p:spPr>
          <a:xfrm>
            <a:off x="6327648" y="2148840"/>
            <a:ext cx="548640" cy="548640"/>
          </a:xfrm>
          <a:prstGeom prst="ellipse">
            <a:avLst/>
          </a:prstGeom>
          <a:solidFill>
            <a:srgbClr val="FC8019"/>
          </a:solidFill>
          <a:ln w="3175">
            <a:solidFill>
              <a:srgbClr val="FC801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4" descr="Robot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4808" y="2286000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327648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6327648" y="3063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dishes based on order history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8961120" y="1965960"/>
            <a:ext cx="2651760" cy="1600200"/>
          </a:xfrm>
          <a:prstGeom prst="roundRect">
            <a:avLst>
              <a:gd name="adj" fmla="val 11429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5"/>
          <p:cNvSpPr/>
          <p:nvPr/>
        </p:nvSpPr>
        <p:spPr>
          <a:xfrm>
            <a:off x="9162288" y="2148840"/>
            <a:ext cx="548640" cy="548640"/>
          </a:xfrm>
          <a:prstGeom prst="ellipse">
            <a:avLst/>
          </a:prstGeom>
          <a:solidFill>
            <a:srgbClr val="FC8019"/>
          </a:solidFill>
          <a:ln w="3175">
            <a:solidFill>
              <a:srgbClr val="FC801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3" name="Image 5" descr="Microphone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99448" y="2286000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162288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Ordering</a:t>
            </a:r>
            <a:endParaRPr lang="en-US" sz="1400" dirty="0"/>
          </a:p>
        </p:txBody>
      </p:sp>
      <p:sp>
        <p:nvSpPr>
          <p:cNvPr id="35" name="Text 27"/>
          <p:cNvSpPr txBox="1"/>
          <p:nvPr/>
        </p:nvSpPr>
        <p:spPr>
          <a:xfrm>
            <a:off x="9162288" y="3063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hands-free with voice commands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6126480" y="3703320"/>
            <a:ext cx="2651760" cy="1600200"/>
          </a:xfrm>
          <a:prstGeom prst="roundRect">
            <a:avLst>
              <a:gd name="adj" fmla="val 11429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29"/>
          <p:cNvSpPr/>
          <p:nvPr/>
        </p:nvSpPr>
        <p:spPr>
          <a:xfrm>
            <a:off x="6327648" y="3886200"/>
            <a:ext cx="548640" cy="548640"/>
          </a:xfrm>
          <a:prstGeom prst="ellipse">
            <a:avLst/>
          </a:prstGeom>
          <a:solidFill>
            <a:srgbClr val="FC8019"/>
          </a:solidFill>
          <a:ln w="3175">
            <a:solidFill>
              <a:srgbClr val="FC801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8" name="Image 6" descr="SatelliteDish 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64808" y="4023360"/>
            <a:ext cx="274320" cy="27432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6327648" y="4526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GPS Tracking</a:t>
            </a:r>
            <a:endParaRPr lang="en-US" sz="1400" dirty="0"/>
          </a:p>
        </p:txBody>
      </p:sp>
      <p:sp>
        <p:nvSpPr>
          <p:cNvPr id="40" name="Text 31"/>
          <p:cNvSpPr txBox="1"/>
          <p:nvPr/>
        </p:nvSpPr>
        <p:spPr>
          <a:xfrm>
            <a:off x="6327648" y="4800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rider location on the map</a:t>
            </a:r>
            <a:endParaRPr lang="en-US" sz="1100" dirty="0"/>
          </a:p>
        </p:txBody>
      </p:sp>
      <p:sp>
        <p:nvSpPr>
          <p:cNvPr id="41" name="Shape 32"/>
          <p:cNvSpPr/>
          <p:nvPr/>
        </p:nvSpPr>
        <p:spPr>
          <a:xfrm>
            <a:off x="8961120" y="3703320"/>
            <a:ext cx="2651760" cy="1600200"/>
          </a:xfrm>
          <a:prstGeom prst="roundRect">
            <a:avLst>
              <a:gd name="adj" fmla="val 11429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33"/>
          <p:cNvSpPr/>
          <p:nvPr/>
        </p:nvSpPr>
        <p:spPr>
          <a:xfrm>
            <a:off x="9162288" y="3886200"/>
            <a:ext cx="548640" cy="548640"/>
          </a:xfrm>
          <a:prstGeom prst="ellipse">
            <a:avLst/>
          </a:prstGeom>
          <a:solidFill>
            <a:srgbClr val="FC8019"/>
          </a:solidFill>
          <a:ln w="3175">
            <a:solidFill>
              <a:srgbClr val="FC801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3" name="Image 7" descr="MobileAlt icon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99448" y="4023360"/>
            <a:ext cx="274320" cy="274320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9162288" y="4526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Integration</a:t>
            </a:r>
            <a:endParaRPr lang="en-US" sz="1400" dirty="0"/>
          </a:p>
        </p:txBody>
      </p:sp>
      <p:sp>
        <p:nvSpPr>
          <p:cNvPr id="45" name="Text 35"/>
          <p:cNvSpPr txBox="1"/>
          <p:nvPr/>
        </p:nvSpPr>
        <p:spPr>
          <a:xfrm>
            <a:off x="9162288" y="4800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and iOS apps with push alerts</a:t>
            </a:r>
            <a:endParaRPr lang="en-US" sz="1100" dirty="0"/>
          </a:p>
        </p:txBody>
      </p:sp>
      <p:pic>
        <p:nvPicPr>
          <p:cNvPr id="46" name="Image 8" descr="Thank you banner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8640" y="5532120"/>
            <a:ext cx="11109960" cy="777240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822960" y="55321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3000" dirty="0"/>
          </a:p>
        </p:txBody>
      </p:sp>
      <p:sp>
        <p:nvSpPr>
          <p:cNvPr id="52" name="TextBox 51">
            <a:hlinkClick r:id="rId13"/>
            <a:extLst>
              <a:ext uri="{FF2B5EF4-FFF2-40B4-BE49-F238E27FC236}">
                <a16:creationId xmlns:a16="http://schemas.microsoft.com/office/drawing/2014/main" id="{6882A85A-74E6-83EE-239E-F4551BFA905E}"/>
              </a:ext>
            </a:extLst>
          </p:cNvPr>
          <p:cNvSpPr txBox="1"/>
          <p:nvPr/>
        </p:nvSpPr>
        <p:spPr>
          <a:xfrm>
            <a:off x="3323758" y="5736074"/>
            <a:ext cx="5454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5"/>
                </a:solidFill>
              </a:rPr>
              <a:t>https://darling-sorbet-31b7fa.netlify.app/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911</Words>
  <Application>Microsoft Office PowerPoint</Application>
  <PresentationFormat>Widescreen</PresentationFormat>
  <Paragraphs>185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Order Cheyandi Aha Anandi - Online Food Delivery Website</dc:title>
  <dc:subject>PptxGenJS Presentation</dc:subject>
  <dc:creator>Siva Kumar, Seshagiri, Ramesh Naidu, Raju Babu, Bunny</dc:creator>
  <cp:lastModifiedBy>Satvika Degala</cp:lastModifiedBy>
  <cp:revision>9</cp:revision>
  <dcterms:created xsi:type="dcterms:W3CDTF">2026-09-19T02:53:44Z</dcterms:created>
  <dcterms:modified xsi:type="dcterms:W3CDTF">2026-09-19T10:05:26Z</dcterms:modified>
</cp:coreProperties>
</file>